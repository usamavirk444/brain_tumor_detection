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5" r:id="rId2"/>
    <p:sldId id="271" r:id="rId3"/>
    <p:sldId id="272" r:id="rId4"/>
    <p:sldId id="276" r:id="rId5"/>
    <p:sldId id="289" r:id="rId6"/>
    <p:sldId id="288" r:id="rId7"/>
    <p:sldId id="286" r:id="rId8"/>
    <p:sldId id="284" r:id="rId9"/>
    <p:sldId id="28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99" autoAdjust="0"/>
    <p:restoredTop sz="94643"/>
  </p:normalViewPr>
  <p:slideViewPr>
    <p:cSldViewPr snapToGrid="0">
      <p:cViewPr>
        <p:scale>
          <a:sx n="123" d="100"/>
          <a:sy n="123" d="100"/>
        </p:scale>
        <p:origin x="32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5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72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9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9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7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2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6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8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7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0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D21780C-FE92-4391-9813-80EFA679C47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0CCE826-8E7C-4A3F-B735-70579EE2D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8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6216C-8B80-D6E9-30CE-725F93128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Brain Tumor Classification Using Convolutional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BAB55-22F4-9D37-B7EE-14075CC90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Usama Latif Virk</a:t>
            </a:r>
          </a:p>
        </p:txBody>
      </p:sp>
    </p:spTree>
    <p:extLst>
      <p:ext uri="{BB962C8B-B14F-4D97-AF65-F5344CB8AC3E}">
        <p14:creationId xmlns:p14="http://schemas.microsoft.com/office/powerpoint/2010/main" val="46746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1B36-6A7D-D188-2DA2-0F0C6182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dirty="0"/>
              <a:t> key statistics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646B-3020-9A24-4D2C-1A13251D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79318"/>
            <a:ext cx="7729728" cy="3101983"/>
          </a:xfrm>
        </p:spPr>
        <p:txBody>
          <a:bodyPr>
            <a:noAutofit/>
          </a:bodyPr>
          <a:lstStyle/>
          <a:p>
            <a:r>
              <a:rPr lang="en-US" sz="1600" dirty="0">
                <a:cs typeface="Times New Roman" panose="02020603050405020304" pitchFamily="18" charset="0"/>
              </a:rPr>
              <a:t>Brain tumors affect ~300,000 people/year globally</a:t>
            </a:r>
          </a:p>
          <a:p>
            <a:r>
              <a:rPr lang="en-US" sz="1600" dirty="0">
                <a:cs typeface="Times New Roman" panose="02020603050405020304" pitchFamily="18" charset="0"/>
              </a:rPr>
              <a:t>5-year survival rate for glioblastoma: only ~5%</a:t>
            </a:r>
          </a:p>
          <a:p>
            <a:r>
              <a:rPr lang="en-US" sz="1600" dirty="0">
                <a:cs typeface="Times New Roman" panose="02020603050405020304" pitchFamily="18" charset="0"/>
              </a:rPr>
              <a:t>Early detection can improve survival by up to 3×</a:t>
            </a:r>
          </a:p>
          <a:p>
            <a:r>
              <a:rPr lang="en-US" sz="1600" dirty="0">
                <a:cs typeface="Times New Roman" panose="02020603050405020304" pitchFamily="18" charset="0"/>
              </a:rPr>
              <a:t>MRI scans are the gold standard for diagnosis</a:t>
            </a:r>
          </a:p>
          <a:p>
            <a:r>
              <a:rPr lang="en-US" sz="1600" dirty="0">
                <a:cs typeface="Times New Roman" panose="02020603050405020304" pitchFamily="18" charset="0"/>
              </a:rPr>
              <a:t>Manual diagnosis takes 30–60 min per scan</a:t>
            </a:r>
          </a:p>
          <a:p>
            <a:r>
              <a:rPr lang="en-US" sz="1600" dirty="0">
                <a:cs typeface="Times New Roman" panose="02020603050405020304" pitchFamily="18" charset="0"/>
              </a:rPr>
              <a:t>Radiologist error rate: up to 30% under fatigue</a:t>
            </a:r>
          </a:p>
        </p:txBody>
      </p:sp>
    </p:spTree>
    <p:extLst>
      <p:ext uri="{BB962C8B-B14F-4D97-AF65-F5344CB8AC3E}">
        <p14:creationId xmlns:p14="http://schemas.microsoft.com/office/powerpoint/2010/main" val="112423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D835A-9D4D-9FAD-E485-6576D642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D2FA-6688-BC86-A2EB-64C6126EC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Full Given a brain </a:t>
            </a:r>
            <a:r>
              <a:rPr lang="en-US" sz="1600" b="1" dirty="0"/>
              <a:t>MRI</a:t>
            </a:r>
            <a:r>
              <a:rPr lang="en-US" sz="1600" dirty="0"/>
              <a:t> Image, classify it as tumor-positive or tumor-negative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78341C-EABB-510C-F920-C78E39C31617}"/>
              </a:ext>
            </a:extLst>
          </p:cNvPr>
          <p:cNvSpPr/>
          <p:nvPr/>
        </p:nvSpPr>
        <p:spPr>
          <a:xfrm>
            <a:off x="2231136" y="3443909"/>
            <a:ext cx="2387164" cy="16002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A1D485-FE2C-8C5D-3368-95133A7E4DD0}"/>
              </a:ext>
            </a:extLst>
          </p:cNvPr>
          <p:cNvSpPr/>
          <p:nvPr/>
        </p:nvSpPr>
        <p:spPr>
          <a:xfrm>
            <a:off x="4902419" y="3443909"/>
            <a:ext cx="2387163" cy="16002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5FD3B3-D80E-FB00-704E-D81209630361}"/>
              </a:ext>
            </a:extLst>
          </p:cNvPr>
          <p:cNvSpPr/>
          <p:nvPr/>
        </p:nvSpPr>
        <p:spPr>
          <a:xfrm>
            <a:off x="7573701" y="3443909"/>
            <a:ext cx="2387163" cy="16002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5FD81-0F03-A134-29E9-08B1943FD700}"/>
              </a:ext>
            </a:extLst>
          </p:cNvPr>
          <p:cNvSpPr txBox="1"/>
          <p:nvPr/>
        </p:nvSpPr>
        <p:spPr>
          <a:xfrm>
            <a:off x="2231136" y="5250615"/>
            <a:ext cx="2387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cs typeface="Times New Roman" panose="02020603050405020304" pitchFamily="18" charset="0"/>
              </a:rPr>
              <a:t>INPUT</a:t>
            </a:r>
            <a:br>
              <a:rPr lang="en-US" dirty="0"/>
            </a:br>
            <a:r>
              <a:rPr lang="en-US" dirty="0"/>
              <a:t>The initial MRI scan data is collected.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400908-FC3C-569C-1A55-33238216D43E}"/>
              </a:ext>
            </a:extLst>
          </p:cNvPr>
          <p:cNvSpPr txBox="1"/>
          <p:nvPr/>
        </p:nvSpPr>
        <p:spPr>
          <a:xfrm>
            <a:off x="4902418" y="5250615"/>
            <a:ext cx="2387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cs typeface="Times New Roman" panose="02020603050405020304" pitchFamily="18" charset="0"/>
              </a:rPr>
              <a:t>MODEL</a:t>
            </a:r>
            <a:br>
              <a:rPr lang="en-US" dirty="0"/>
            </a:br>
            <a:r>
              <a:rPr lang="en-US" dirty="0"/>
              <a:t>AI algorithms analyze the scanned images.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A1829-5821-283E-8E26-7EDD94EC19DB}"/>
              </a:ext>
            </a:extLst>
          </p:cNvPr>
          <p:cNvSpPr txBox="1"/>
          <p:nvPr/>
        </p:nvSpPr>
        <p:spPr>
          <a:xfrm>
            <a:off x="7431641" y="5250615"/>
            <a:ext cx="2387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cs typeface="Times New Roman" panose="02020603050405020304" pitchFamily="18" charset="0"/>
              </a:rPr>
              <a:t>OUTPUT</a:t>
            </a:r>
            <a:br>
              <a:rPr lang="en-US" dirty="0"/>
            </a:br>
            <a:r>
              <a:rPr lang="en-US" dirty="0"/>
              <a:t>The initial MRI scan data is collected.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9662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9332-1A1A-CBC4-94C5-526B6871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28EA-B005-645A-0918-94A10932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DATA &amp; augmentation</a:t>
            </a:r>
            <a:endParaRPr lang="en-US" b="1" dirty="0">
              <a:latin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C6309D-27D5-0101-A019-F6492696D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88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cs typeface="Times New Roman" panose="02020603050405020304" pitchFamily="18" charset="0"/>
              </a:rPr>
              <a:t>Initial Dataset </a:t>
            </a:r>
            <a:r>
              <a:rPr lang="en-US" sz="1600" dirty="0">
                <a:cs typeface="Times New Roman" panose="02020603050405020304" pitchFamily="18" charset="0"/>
              </a:rPr>
              <a:t>253 total images — 155 tumor (yes), 98 no tumor (no).</a:t>
            </a:r>
          </a:p>
          <a:p>
            <a:pPr marL="0" indent="0">
              <a:buNone/>
            </a:pPr>
            <a:r>
              <a:rPr lang="en-US" sz="1600" b="1" dirty="0">
                <a:cs typeface="Times New Roman" panose="02020603050405020304" pitchFamily="18" charset="0"/>
              </a:rPr>
              <a:t>Augmentation Methods Used:</a:t>
            </a:r>
          </a:p>
          <a:p>
            <a:r>
              <a:rPr lang="en-US" sz="1600" b="1" dirty="0" err="1"/>
              <a:t>RandomHorizontalFlip</a:t>
            </a: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en-US" sz="1600" dirty="0"/>
              <a:t>— mirrors the image left to right (50% chance)</a:t>
            </a:r>
            <a:endParaRPr lang="en-US" sz="1600" dirty="0">
              <a:cs typeface="Times New Roman" panose="02020603050405020304" pitchFamily="18" charset="0"/>
            </a:endParaRPr>
          </a:p>
          <a:p>
            <a:r>
              <a:rPr lang="en-US" sz="1600" b="1" dirty="0" err="1"/>
              <a:t>RandomVerticalFlip</a:t>
            </a: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en-US" sz="1600" dirty="0"/>
              <a:t>— mirrors the image top to bottom (30% chance)</a:t>
            </a:r>
            <a:endParaRPr lang="en-US" sz="1600" dirty="0">
              <a:cs typeface="Times New Roman" panose="02020603050405020304" pitchFamily="18" charset="0"/>
            </a:endParaRPr>
          </a:p>
          <a:p>
            <a:r>
              <a:rPr lang="en-US" sz="1600" b="1" dirty="0" err="1"/>
              <a:t>RandomRotation</a:t>
            </a:r>
            <a:r>
              <a:rPr lang="en-US" sz="1600" dirty="0">
                <a:cs typeface="Times New Roman" panose="02020603050405020304" pitchFamily="18" charset="0"/>
              </a:rPr>
              <a:t> </a:t>
            </a:r>
            <a:r>
              <a:rPr lang="en-US" sz="1600" dirty="0"/>
              <a:t>— rotates up to ±20 degrees</a:t>
            </a:r>
          </a:p>
          <a:p>
            <a:r>
              <a:rPr lang="en-US" sz="1600" b="1" dirty="0" err="1"/>
              <a:t>ColorJitter</a:t>
            </a:r>
            <a:r>
              <a:rPr lang="en-US" sz="1600" dirty="0"/>
              <a:t> — varies brightness and contrast to simulate different MRI scanner settings</a:t>
            </a:r>
          </a:p>
          <a:p>
            <a:r>
              <a:rPr lang="en-US" sz="1600" b="1" dirty="0" err="1"/>
              <a:t>RandomResizedCrop</a:t>
            </a:r>
            <a:r>
              <a:rPr lang="en-US" sz="1600" dirty="0"/>
              <a:t> — randomly zooms and crops between 75%–100% of the original</a:t>
            </a:r>
          </a:p>
          <a:p>
            <a:r>
              <a:rPr lang="en-US" sz="1600" b="1" dirty="0" err="1"/>
              <a:t>RandomGrayscale</a:t>
            </a:r>
            <a:r>
              <a:rPr lang="en-US" sz="1600" dirty="0"/>
              <a:t> — converts to grayscale 5% of the time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9B3CF9F-0C7A-794E-2D61-608C45907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93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A5B9-63B1-F9F7-CA8B-6E5F61E8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53AE-8983-B5D4-B2D5-FF077951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 dirty="0">
                <a:solidFill>
                  <a:srgbClr val="262626"/>
                </a:solidFill>
              </a:rPr>
              <a:t>Training process &amp; configuration</a:t>
            </a:r>
            <a:endParaRPr lang="en-US" sz="2000" b="1" dirty="0">
              <a:solidFill>
                <a:srgbClr val="262626"/>
              </a:solidFill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280DB0E-8999-BBEF-9F1F-1FA16C094C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72155" y="81716"/>
            <a:ext cx="4937242" cy="669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4">
            <a:extLst>
              <a:ext uri="{FF2B5EF4-FFF2-40B4-BE49-F238E27FC236}">
                <a16:creationId xmlns:a16="http://schemas.microsoft.com/office/drawing/2014/main" id="{C5C611FE-719F-3F54-392B-AD85C9E3F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536102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CN" altLang="en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8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D308-6F1F-8EA8-8F9B-344E08AF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44BC-A1EB-40D9-7FB0-8AE59F96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000" dirty="0">
                <a:solidFill>
                  <a:srgbClr val="262626"/>
                </a:solidFill>
              </a:rPr>
              <a:t>Training process &amp; configuration</a:t>
            </a:r>
            <a:endParaRPr lang="en-US" sz="2000" b="1" dirty="0">
              <a:solidFill>
                <a:srgbClr val="262626"/>
              </a:solidFill>
            </a:endParaRPr>
          </a:p>
        </p:txBody>
      </p:sp>
      <p:sp>
        <p:nvSpPr>
          <p:cNvPr id="2061" name="Rectangle 4">
            <a:extLst>
              <a:ext uri="{FF2B5EF4-FFF2-40B4-BE49-F238E27FC236}">
                <a16:creationId xmlns:a16="http://schemas.microsoft.com/office/drawing/2014/main" id="{ABECE613-B5D5-E935-F5CB-5A4F696A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536102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CN" altLang="en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B7A11F-ADDD-8908-1AE0-C8FF3CA5F2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4335" y="477117"/>
            <a:ext cx="7467107" cy="5705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62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99B59-95F8-6925-456D-9CA22106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FDB8-9DEB-F3A7-4F8C-A63864DF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>
                <a:solidFill>
                  <a:srgbClr val="262626"/>
                </a:solidFill>
              </a:rPr>
              <a:t>Results</a:t>
            </a:r>
            <a:endParaRPr lang="en-US" sz="3200" b="1" dirty="0">
              <a:solidFill>
                <a:srgbClr val="262626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9FB9E8-24BD-4435-88BA-64B681D92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D72231-3CAD-AF06-B824-46338BCAE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072" y="211934"/>
            <a:ext cx="3614679" cy="3217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B0D7E2-08D4-42AD-2C73-849CD0E7F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128" y="3429000"/>
            <a:ext cx="3519919" cy="2815936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77B41C31-81D5-2C31-DE39-1D8F7D174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7536102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CN" altLang="en-CN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CN" altLang="en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E51A-B2AF-AF06-F478-E23DBD20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B1CF6-668E-A3AB-1B7C-6AB9FB0E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Challenges</a:t>
            </a:r>
            <a:endParaRPr lang="en-US" dirty="0">
              <a:latin typeface="+mn-lt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3C3485-0329-0AE2-25BE-A457572D2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40617"/>
            <a:ext cx="7729728" cy="4219956"/>
          </a:xfrm>
        </p:spPr>
        <p:txBody>
          <a:bodyPr>
            <a:noAutofit/>
          </a:bodyPr>
          <a:lstStyle/>
          <a:p>
            <a:r>
              <a:rPr lang="en-US" sz="1600" b="1" dirty="0"/>
              <a:t>1. Small Dataset</a:t>
            </a:r>
            <a:r>
              <a:rPr lang="en-US" sz="1600" dirty="0"/>
              <a:t> Only 253 original images — far too few for a CNN from scratch. Most medical imaging models use thousands.</a:t>
            </a:r>
          </a:p>
          <a:p>
            <a:r>
              <a:rPr lang="en-US" sz="1600" b="1" dirty="0"/>
              <a:t>2. Class Imbalance</a:t>
            </a:r>
            <a:r>
              <a:rPr lang="en-US" sz="1600" dirty="0"/>
              <a:t> 155 tumor vs 98 no-tumor images — required class weights in the loss function to prevent the model from being biased toward the majority class.</a:t>
            </a:r>
          </a:p>
          <a:p>
            <a:r>
              <a:rPr lang="en-US" sz="1600" b="1" dirty="0"/>
              <a:t>3. Overfitting</a:t>
            </a:r>
            <a:r>
              <a:rPr lang="en-US" sz="1600" dirty="0"/>
              <a:t> With so few images, the model memorized training data. Addressed with residual blocks, dropout (0.1 + 0.4), L2 regularization, and data augmentation.</a:t>
            </a:r>
          </a:p>
          <a:p>
            <a:r>
              <a:rPr lang="en-US" sz="1600" b="1" dirty="0"/>
              <a:t>4. Offline Augmentation Limitation</a:t>
            </a:r>
            <a:r>
              <a:rPr lang="en-US" sz="1600" dirty="0"/>
              <a:t> Generating fixed augmented copies on disk caused the model to memorize those specific copies too — because the same images repeated every epoch.</a:t>
            </a:r>
          </a:p>
          <a:p>
            <a:r>
              <a:rPr lang="en-US" sz="1600" b="1" dirty="0"/>
              <a:t>5. Noisy Validation Accuracy</a:t>
            </a:r>
            <a:r>
              <a:rPr lang="en-US" sz="1600" dirty="0"/>
              <a:t> With only 38 </a:t>
            </a:r>
            <a:r>
              <a:rPr lang="en-US" sz="1600" dirty="0" err="1"/>
              <a:t>val</a:t>
            </a:r>
            <a:r>
              <a:rPr lang="en-US" sz="1600" dirty="0"/>
              <a:t>/test images, each single wrong prediction = 2.63% accuracy swing, making metrics unstable across runs.</a:t>
            </a:r>
          </a:p>
          <a:p>
            <a:r>
              <a:rPr lang="en-US" sz="1600" b="1" dirty="0"/>
              <a:t>6. Training from Scratch</a:t>
            </a:r>
            <a:r>
              <a:rPr lang="en-US" sz="1600" dirty="0"/>
              <a:t> No pretrained weights (e.g. ImageNet) allowed — every feature had to be learned purely from MRI data, which is much harder than fine-tuning a pretrained model.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5A9BB53-1BC2-1149-5486-0CB2FE89E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N" altLang="en-CN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RandomVerticalFlip</a:t>
            </a:r>
            <a: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mirrors the image top to bottom (30% chance)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21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AE3E-6707-0B65-BA84-A631F24CD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765" y="2728178"/>
            <a:ext cx="7729728" cy="1188720"/>
          </a:xfrm>
        </p:spPr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623062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2083</TotalTime>
  <Words>469</Words>
  <Application>Microsoft Macintosh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Parcel</vt:lpstr>
      <vt:lpstr>Brain Tumor Classification Using Convolutional Neural Networks</vt:lpstr>
      <vt:lpstr>Background — key statistics—</vt:lpstr>
      <vt:lpstr>Problem statement</vt:lpstr>
      <vt:lpstr>DATA &amp; augmentation</vt:lpstr>
      <vt:lpstr>Training process &amp; configuration</vt:lpstr>
      <vt:lpstr>Training process &amp; configuration</vt:lpstr>
      <vt:lpstr>Results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Learner  ct103</dc:creator>
  <cp:lastModifiedBy>Usama Virk</cp:lastModifiedBy>
  <cp:revision>48</cp:revision>
  <dcterms:created xsi:type="dcterms:W3CDTF">2025-10-29T07:28:51Z</dcterms:created>
  <dcterms:modified xsi:type="dcterms:W3CDTF">2026-03-19T08:41:45Z</dcterms:modified>
</cp:coreProperties>
</file>