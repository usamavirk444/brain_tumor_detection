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3"/>
  </p:normalViewPr>
  <p:slideViewPr>
    <p:cSldViewPr snapToGrid="0" snapToObjects="1">
      <p:cViewPr>
        <p:scale>
          <a:sx n="102" d="100"/>
          <a:sy n="102" d="100"/>
        </p:scale>
        <p:origin x="114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95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dlbrainusama.netlify.app</a:t>
            </a:r>
            <a:r>
              <a:rPr lang="en-US"/>
              <a:t>/demo/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12192000" cy="2743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0" y="4187952"/>
            <a:ext cx="12192000" cy="54864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(CNN)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Residual CNN Approach for Binary MRI Classification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834640"/>
            <a:ext cx="54864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Usama Latif Virk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731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Machine Learning / Deep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13892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539496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56032" y="1143000"/>
            <a:ext cx="512064" cy="93268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56032" y="1399032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216152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618488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need &amp; global significance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185416"/>
            <a:ext cx="539496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256032" y="2185416"/>
            <a:ext cx="512064" cy="93268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256032" y="2441448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258568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 MRI images, class distribution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227832"/>
            <a:ext cx="539496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256032" y="3227832"/>
            <a:ext cx="512064" cy="93268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256032" y="3483864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300984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Augmentation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703320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strategy → 1,593 training images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4270248"/>
            <a:ext cx="539496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256032" y="4270248"/>
            <a:ext cx="512064" cy="93268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256032" y="4526280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343400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745736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ResidualBlock CNN, 455,682 parameters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5312664"/>
            <a:ext cx="539496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256032" y="5312664"/>
            <a:ext cx="512064" cy="93268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256032" y="5568696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5385816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5788152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optimizer, scheduler, dropout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61888" y="1143000"/>
            <a:ext cx="539496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5" name="Shape 33"/>
          <p:cNvSpPr/>
          <p:nvPr/>
        </p:nvSpPr>
        <p:spPr>
          <a:xfrm>
            <a:off x="5961888" y="1143000"/>
            <a:ext cx="512064" cy="93268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5961888" y="1399032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28816" y="1216152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28816" y="1618488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loop, convergence, checkpointing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61888" y="2185416"/>
            <a:ext cx="539496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5961888" y="2185416"/>
            <a:ext cx="512064" cy="93268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5961888" y="2441448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28816" y="2258568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28816" y="2660904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89.47% accuracy, F1=0.913, confusion matrix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61888" y="3227832"/>
            <a:ext cx="539496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5" name="Shape 43"/>
          <p:cNvSpPr/>
          <p:nvPr/>
        </p:nvSpPr>
        <p:spPr>
          <a:xfrm>
            <a:off x="5961888" y="3227832"/>
            <a:ext cx="512064" cy="93268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5961888" y="3483864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528816" y="3300984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28816" y="3703320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Imbalance, small data, MPS compatibility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61888" y="4270248"/>
            <a:ext cx="5394960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0" name="Shape 48"/>
          <p:cNvSpPr/>
          <p:nvPr/>
        </p:nvSpPr>
        <p:spPr>
          <a:xfrm>
            <a:off x="5961888" y="4270248"/>
            <a:ext cx="512064" cy="93268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5961888" y="4526280"/>
            <a:ext cx="512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28816" y="4343400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28816" y="4745736"/>
            <a:ext cx="4700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105408"/>
            <a:ext cx="649224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649224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29184" y="11247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BACKGROUND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536192"/>
            <a:ext cx="292608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47472" y="1536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" y="1499616"/>
            <a:ext cx="5897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tumors are abnormal cell growths inside the brain — benign or malignant — and represent one of the most life-threatening neurological conditions globally.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414016"/>
            <a:ext cx="292608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347472" y="2414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" y="2377440"/>
            <a:ext cx="5897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requires radiologists to manually review MRI scans. This is slow, expensive, subjective, and prone to human error across different practitioners.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3291840"/>
            <a:ext cx="292608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347472" y="3291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" y="3255264"/>
            <a:ext cx="5897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is critical: glioblastoma multiforme has only a 5–10% five-year survival rate. Every week of delayed diagnosis significantly reduces treatment efficacy.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4169664"/>
            <a:ext cx="292608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347472" y="4169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" y="4133088"/>
            <a:ext cx="5897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shortage of specialized radiologists in developing countries creates diagnostic bottlenecks, delaying treatment by weeks or months for high-risk patients.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5047488"/>
            <a:ext cx="292608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47472" y="5047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" y="5010912"/>
            <a:ext cx="5897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detection system provides a fast, consistent second opinion — reducing diagnosis time from days to under 30 seconds and democratizing access to expert diagnosis.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67728" y="1115568"/>
            <a:ext cx="4572000" cy="5303520"/>
          </a:xfrm>
          <a:prstGeom prst="rect">
            <a:avLst/>
          </a:prstGeom>
          <a:solidFill>
            <a:srgbClr val="E9ECE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6967728" y="1115568"/>
            <a:ext cx="457200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7040880" y="112471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59168" y="1536192"/>
            <a:ext cx="4389120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7059168" y="157276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~700K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723376" y="15727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brain tumor cases diagnosed globally per year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59168" y="2359152"/>
            <a:ext cx="4389120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7059168" y="23957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723376" y="23957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survival rate for malignant glioblastoma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59168" y="3182112"/>
            <a:ext cx="4389120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7059168" y="321868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 sec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723376" y="321868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 with our AI-assisted detection system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59168" y="4005072"/>
            <a:ext cx="4389120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7059168" y="40416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89.47%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723376" y="404164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achieved by BrainTumorCNN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59168" y="4828032"/>
            <a:ext cx="4389120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7059168" y="486460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91.30%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723376" y="4864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 on held-out test set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59168" y="5650992"/>
            <a:ext cx="4389120" cy="71323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7059168" y="568756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455,682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723376" y="568756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trainable parameters — compact yet powerful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2724912" cy="117043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56032" y="2176272"/>
            <a:ext cx="2724912" cy="10972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56032" y="1133856"/>
            <a:ext cx="2724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" y="18288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1115568"/>
            <a:ext cx="2724912" cy="117043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108960" y="2176272"/>
            <a:ext cx="2724912" cy="10972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3108960" y="1133856"/>
            <a:ext cx="2724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108960" y="18288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(Yes)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61888" y="1115568"/>
            <a:ext cx="2724912" cy="117043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5961888" y="2176272"/>
            <a:ext cx="2724912" cy="10972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961888" y="1133856"/>
            <a:ext cx="2724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961888" y="18288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 (No)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14816" y="1115568"/>
            <a:ext cx="2724912" cy="117043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8814816" y="2176272"/>
            <a:ext cx="2724912" cy="10972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8814816" y="1133856"/>
            <a:ext cx="2724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814816" y="182880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2468880"/>
            <a:ext cx="5577840" cy="3977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256032" y="2468880"/>
            <a:ext cx="557784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329184" y="24780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2852928"/>
            <a:ext cx="141732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347472" y="285292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288950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Brain MRI Images for Brain Tumor Detection (Navoneel Chakrabarty, 2019)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3383280"/>
            <a:ext cx="141732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347472" y="33832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341985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'yes' (tumor present) / 'no' (tumor absent) — T1-weighted contrast MRI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3913632"/>
            <a:ext cx="141732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347472" y="39136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39502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(~176×176 to 512×512). All resized to 224×224 for model input.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4443984"/>
            <a:ext cx="141732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347472" y="444398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28800" y="44805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validation / 15% test — stratified by class label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" y="4974336"/>
            <a:ext cx="141732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347472" y="497433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28800" y="501091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≈ 1.58:1 (yes:no). Addressed via CrossEntropyLoss class weights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53328" y="2468880"/>
            <a:ext cx="5486400" cy="3977640"/>
          </a:xfrm>
          <a:prstGeom prst="rect">
            <a:avLst/>
          </a:prstGeom>
          <a:solidFill>
            <a:srgbClr val="E9ECE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6053328" y="2468880"/>
            <a:ext cx="548640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6126480" y="247802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44768" y="2852928"/>
            <a:ext cx="1097280" cy="38404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6144768" y="28529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42048" y="2852928"/>
            <a:ext cx="914400" cy="38404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7242048" y="28529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56448" y="2852928"/>
            <a:ext cx="914400" cy="38404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8156448" y="28529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070848" y="2852928"/>
            <a:ext cx="914400" cy="38404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9070848" y="28529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985248" y="2852928"/>
            <a:ext cx="1371600" cy="38404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9985248" y="2852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Aug. Total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44768" y="3273552"/>
            <a:ext cx="109728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6144768" y="32735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242048" y="3273552"/>
            <a:ext cx="91440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7242048" y="32735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156448" y="3273552"/>
            <a:ext cx="91440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8156448" y="32735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070848" y="3273552"/>
            <a:ext cx="91440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9070848" y="32735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985248" y="3273552"/>
            <a:ext cx="137160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9985248" y="32735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1,593 (×9)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144768" y="3822192"/>
            <a:ext cx="109728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6144768" y="382219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242048" y="3822192"/>
            <a:ext cx="9144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7242048" y="382219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156448" y="3822192"/>
            <a:ext cx="9144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8156448" y="382219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070848" y="3822192"/>
            <a:ext cx="9144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9070848" y="382219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985248" y="3822192"/>
            <a:ext cx="13716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5" name="Text 73"/>
          <p:cNvSpPr/>
          <p:nvPr/>
        </p:nvSpPr>
        <p:spPr>
          <a:xfrm>
            <a:off x="9985248" y="382219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(none)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144768" y="4370832"/>
            <a:ext cx="109728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6144768" y="43708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242048" y="4370832"/>
            <a:ext cx="91440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9" name="Text 77"/>
          <p:cNvSpPr/>
          <p:nvPr/>
        </p:nvSpPr>
        <p:spPr>
          <a:xfrm>
            <a:off x="7242048" y="437083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156448" y="4370832"/>
            <a:ext cx="91440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1" name="Text 79"/>
          <p:cNvSpPr/>
          <p:nvPr/>
        </p:nvSpPr>
        <p:spPr>
          <a:xfrm>
            <a:off x="8156448" y="437083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9070848" y="4370832"/>
            <a:ext cx="91440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9070848" y="437083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9985248" y="4370832"/>
            <a:ext cx="1371600" cy="47548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5" name="Text 83"/>
          <p:cNvSpPr/>
          <p:nvPr/>
        </p:nvSpPr>
        <p:spPr>
          <a:xfrm>
            <a:off x="9985248" y="43708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(none)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6144768" y="495604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and Test sets receive NO augmentation — only resize + normalize — ensuring fully unbiased evaluation of model generalization.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144768" y="559612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applied to training loss: w(no)=1404/884=1.587,  w(yes)=1.0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Augmentation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" y="731520"/>
            <a:ext cx="594360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594360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29184" y="11247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AUGMENTATION PIPELINE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481328"/>
            <a:ext cx="5742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augmented once, saved to disk, and reused every epoch — faster training, full reproducibility, and visual inspectability.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121408"/>
            <a:ext cx="310896" cy="31089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347472" y="2121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1031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224×224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239572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all variable-resolution MRI images to uniform 224×224 (ImageNet convention).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724912"/>
            <a:ext cx="310896" cy="31089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347472" y="2743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270662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p=0.5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2999232"/>
            <a:ext cx="5349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image left-right. Valid for MRI — brain symmetry means flipped scans still represent real anatomy.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" y="3383280"/>
            <a:ext cx="310896" cy="26426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329184" y="3383280"/>
            <a:ext cx="310896" cy="264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" y="3364992"/>
            <a:ext cx="53492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Vertical Flip p=0.3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" y="3589020"/>
            <a:ext cx="534924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vertical mirror. MRI scans can appear inverted depending on scanner acquisition settings.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13632"/>
            <a:ext cx="310896" cy="31089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320040" y="3913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89534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 ±20°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4109085"/>
            <a:ext cx="534924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slight patient head-positioning variation. Keeps tumor morphology intact.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" y="4441698"/>
            <a:ext cx="310896" cy="31089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338328" y="4441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" y="442341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 (brightness, contrast, saturation)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4088" y="471601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scanner calibration differences and contrast-agent dosage variations across hospitals.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969764"/>
            <a:ext cx="310896" cy="31089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320040" y="49697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95147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Resized Crop 75–100%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524408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a random region then resizes. Teaches model to detect tumors regardless of position in the frame.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20040" y="5718492"/>
            <a:ext cx="310896" cy="31089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8" name="Text 96"/>
          <p:cNvSpPr/>
          <p:nvPr/>
        </p:nvSpPr>
        <p:spPr>
          <a:xfrm>
            <a:off x="320040" y="57184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99" name="Text 97"/>
          <p:cNvSpPr/>
          <p:nvPr/>
        </p:nvSpPr>
        <p:spPr>
          <a:xfrm>
            <a:off x="685800" y="57002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3A40"/>
                </a:solidFill>
                <a:latin typeface="Calibri" pitchFamily="34" charset="0"/>
              </a:rPr>
              <a:t>Random Grayscale (p=0.05)</a:t>
            </a:r>
          </a:p>
        </p:txBody>
      </p:sp>
      <p:sp>
        <p:nvSpPr>
          <p:cNvPr id="100" name="Text 98"/>
          <p:cNvSpPr/>
          <p:nvPr/>
        </p:nvSpPr>
        <p:spPr>
          <a:xfrm>
            <a:off x="685800" y="59928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</a:rPr>
              <a:t>Converts image to grayscale with 5% probability. Simulates older MRI scanner formats and improves robustness to color variation.</a:t>
            </a:r>
          </a:p>
        </p:txBody>
      </p:sp>
      <p:sp>
        <p:nvSpPr>
          <p:cNvPr id="37" name="Shape 35"/>
          <p:cNvSpPr/>
          <p:nvPr/>
        </p:nvSpPr>
        <p:spPr>
          <a:xfrm>
            <a:off x="6446520" y="1115568"/>
            <a:ext cx="5074920" cy="5303520"/>
          </a:xfrm>
          <a:prstGeom prst="rect">
            <a:avLst/>
          </a:prstGeom>
          <a:solidFill>
            <a:srgbClr val="E9ECE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6446520" y="1115568"/>
            <a:ext cx="507492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6519672" y="112471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RESULT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37960" y="15544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training image produces: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03720" y="1965960"/>
            <a:ext cx="4160520" cy="658368"/>
          </a:xfrm>
          <a:prstGeom prst="rect">
            <a:avLst/>
          </a:prstGeom>
          <a:solidFill>
            <a:srgbClr val="003366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6903720" y="1965960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original  +  8 augmented  =  9 copies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537960" y="2761488"/>
            <a:ext cx="4892040" cy="512064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6601968" y="2816352"/>
            <a:ext cx="3200400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Train Images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20656" y="2816352"/>
            <a:ext cx="1481328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50152" y="3332988"/>
            <a:ext cx="48920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6614160" y="3387852"/>
            <a:ext cx="3200400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per Image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832848" y="3387852"/>
            <a:ext cx="1481328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×9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537960" y="3904488"/>
            <a:ext cx="4892040" cy="512064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0" name="Text 48"/>
          <p:cNvSpPr/>
          <p:nvPr/>
        </p:nvSpPr>
        <p:spPr>
          <a:xfrm>
            <a:off x="6601968" y="3950208"/>
            <a:ext cx="3200400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Total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820656" y="3950208"/>
            <a:ext cx="1481328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1,593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537960" y="4471416"/>
            <a:ext cx="48920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6601968" y="4526280"/>
            <a:ext cx="3200400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(unchanged)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820656" y="4526280"/>
            <a:ext cx="1481328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537960" y="5063490"/>
            <a:ext cx="4892040" cy="512064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6601968" y="5118354"/>
            <a:ext cx="3200400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(unchanged)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820656" y="5118354"/>
            <a:ext cx="1481328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537960" y="5655564"/>
            <a:ext cx="48920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6601968" y="5710428"/>
            <a:ext cx="3200400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820656" y="5710428"/>
            <a:ext cx="1481328" cy="41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BrainTumorCNN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-3276600" y="-122428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" y="1097280"/>
            <a:ext cx="1207008" cy="1371600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164592" y="1115568"/>
            <a:ext cx="12070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3×224×224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1901952"/>
            <a:ext cx="1207008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164592" y="1938528"/>
            <a:ext cx="1207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MRI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0" y="1737360"/>
            <a:ext cx="13716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1508760" y="1097280"/>
            <a:ext cx="1417320" cy="1371600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1508760" y="1115568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+ ReLU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508760" y="1901952"/>
            <a:ext cx="141732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508760" y="193852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3×3, pad=1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0" y="1737360"/>
            <a:ext cx="13716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3063240" y="1097280"/>
            <a:ext cx="1325880" cy="1371600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3063240" y="1115568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MaxPool2D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112×112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3240" y="1901952"/>
            <a:ext cx="132588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3063240" y="193852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stride 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0" y="1737360"/>
            <a:ext cx="13716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4526280" y="1097280"/>
            <a:ext cx="1325880" cy="1371600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4526280" y="1115568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32→64 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26280" y="1901952"/>
            <a:ext cx="132588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4526280" y="193852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56×56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52160" y="1737360"/>
            <a:ext cx="13716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5989320" y="1097280"/>
            <a:ext cx="1325880" cy="1371600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5989320" y="1115568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64→128 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1901952"/>
            <a:ext cx="132588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5989320" y="193852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0" y="1737360"/>
            <a:ext cx="13716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Shape 32"/>
          <p:cNvSpPr/>
          <p:nvPr/>
        </p:nvSpPr>
        <p:spPr>
          <a:xfrm>
            <a:off x="7452360" y="1097280"/>
            <a:ext cx="1325880" cy="1371600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7452360" y="1115568"/>
            <a:ext cx="1325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128→256 ch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52360" y="1901952"/>
            <a:ext cx="132588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7452360" y="193852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778240" y="1737360"/>
            <a:ext cx="13716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8915400" y="1097280"/>
            <a:ext cx="1417320" cy="1371600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8915400" y="1115568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→ FC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256→128→2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915400" y="1901952"/>
            <a:ext cx="141732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8915400" y="193852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0.4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" y="2651760"/>
            <a:ext cx="56235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256032" y="2651760"/>
            <a:ext cx="562356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329184" y="2660904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 — DETAIL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" y="3072384"/>
            <a:ext cx="54864" cy="40233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457200" y="303580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3291840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two paths simultaneously: Main path and Skip (shortcut) path.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7472" y="3639312"/>
            <a:ext cx="54864" cy="40233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0" name="Text 48"/>
          <p:cNvSpPr/>
          <p:nvPr/>
        </p:nvSpPr>
        <p:spPr>
          <a:xfrm>
            <a:off x="457200" y="360273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path: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3858768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Conv2D(3×3) → BatchNorm2D → ReLU → Conv2D(3×3) → BatchNorm2D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47472" y="4206240"/>
            <a:ext cx="54864" cy="40233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457200" y="416966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path: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42569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channels or stride change: Conv2D(1×1)→BN to match dimensions. Otherwise: identity (x passes unchanged).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47472" y="4773168"/>
            <a:ext cx="54864" cy="40233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457200" y="473659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4992624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path + Skip path → ReLU. This residual addition allows gradients to flow backward unimpeded through any depth.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47472" y="5340096"/>
            <a:ext cx="54864" cy="40233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457200" y="530352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residuals?: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555955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vanishing gradient problem. Enable training of deeper networks effectively on small datasets.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7472" y="5907024"/>
            <a:ext cx="54864" cy="40233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457200" y="5870448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init: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57200" y="6126480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(He) initialization on all Conv2D layers — preserves gradient variance through ReLU activations.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080760" y="2651760"/>
            <a:ext cx="5440680" cy="3840480"/>
          </a:xfrm>
          <a:prstGeom prst="rect">
            <a:avLst/>
          </a:prstGeom>
          <a:solidFill>
            <a:srgbClr val="E9ECE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5" name="Shape 63"/>
          <p:cNvSpPr/>
          <p:nvPr/>
        </p:nvSpPr>
        <p:spPr>
          <a:xfrm>
            <a:off x="6080760" y="2651760"/>
            <a:ext cx="544068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6153912" y="26609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 &amp; DESIGN RATIONALE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99632" y="3035808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Pooling: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199632" y="3273552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Flatten. Compresses 256×14×14 → 256 vector. Dramatically reduces parameters and controls overfitting on small datasets.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199632" y="3602736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256 → 128: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199632" y="3840480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BatchNorm1D + ReLU. Intermediate layer learns higher-level combinations of spatial features.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199632" y="4169664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p=0.4: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199632" y="440740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40% of neurons randomly during training. Acts as implicit ensemble, preventing co-adaptation of features.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199632" y="4736592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128 → 2: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199632" y="4974336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output logits. CrossEntropyLoss applies softmax internally — no explicit softmax in forward pass.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199632" y="5303520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Regularization: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199632" y="5541264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get_l2_loss(): λ=5×10⁻⁵ × Σ‖W‖₂ added to training loss. Penalizes large individual weights.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199632" y="5870448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199632" y="6108192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455,682 total. Compact by design — prevents overfitting given limited training data (~1,593 images).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594360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594360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29184" y="11247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508760"/>
            <a:ext cx="155448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47472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01952" y="1508760"/>
            <a:ext cx="164592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1901952" y="1508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47872" y="1508760"/>
            <a:ext cx="246888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547872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1920240"/>
            <a:ext cx="15544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384048" y="1920240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01952" y="1920240"/>
            <a:ext cx="164592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938528" y="1920240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47872" y="1920240"/>
            <a:ext cx="24688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3584448" y="1920240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bound; early stop may end sooner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295144"/>
            <a:ext cx="15544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84048" y="2295144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01952" y="2295144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938528" y="2295144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47872" y="2295144"/>
            <a:ext cx="24688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3584448" y="2295144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Train=16, Val/Test=8 for stability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2670048"/>
            <a:ext cx="15544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384048" y="2670048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01952" y="2670048"/>
            <a:ext cx="164592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1938528" y="2670048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47872" y="2670048"/>
            <a:ext cx="24688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3584448" y="2670048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weight decay; better generalization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3044952"/>
            <a:ext cx="15544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384048" y="3044952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901952" y="3044952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1938528" y="3044952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5×10⁻⁴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547872" y="3044952"/>
            <a:ext cx="24688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3584448" y="3044952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Conservative; prevents overfitting small data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7472" y="3419856"/>
            <a:ext cx="15544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384048" y="3419856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901952" y="3419856"/>
            <a:ext cx="164592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1938528" y="3419856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5×10⁻⁵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547872" y="3419856"/>
            <a:ext cx="24688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3584448" y="3419856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 in AdamW matches model λ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47472" y="3794760"/>
            <a:ext cx="15544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384048" y="3794760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901952" y="3794760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1938528" y="3794760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547872" y="3794760"/>
            <a:ext cx="24688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3584448" y="3794760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LR when val F1 stalls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" y="4169664"/>
            <a:ext cx="15544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384048" y="4169664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Factor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901952" y="4169664"/>
            <a:ext cx="164592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1938528" y="4169664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547872" y="4169664"/>
            <a:ext cx="24688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3584448" y="4169664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LR = 0.6 × current on plateau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47472" y="4544568"/>
            <a:ext cx="15544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384048" y="4544568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Patience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901952" y="4544568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1938528" y="4544568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epochs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547872" y="4544568"/>
            <a:ext cx="24688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3584448" y="4544568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4 epochs before reducing LR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47472" y="4919472"/>
            <a:ext cx="15544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384048" y="4919472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LR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901952" y="4919472"/>
            <a:ext cx="164592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1938528" y="4919472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1×10⁻⁶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547872" y="4919472"/>
            <a:ext cx="24688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3584448" y="4919472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floor for learning rate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47472" y="5294376"/>
            <a:ext cx="15544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384048" y="5294376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1901952" y="5294376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5" name="Text 73"/>
          <p:cNvSpPr/>
          <p:nvPr/>
        </p:nvSpPr>
        <p:spPr>
          <a:xfrm>
            <a:off x="1938528" y="5294376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 (weighted)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547872" y="5294376"/>
            <a:ext cx="24688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3584448" y="5294376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preferred over accuracy for imbalanced data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47472" y="5669280"/>
            <a:ext cx="15544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9" name="Text 77"/>
          <p:cNvSpPr/>
          <p:nvPr/>
        </p:nvSpPr>
        <p:spPr>
          <a:xfrm>
            <a:off x="384048" y="5669280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901952" y="5669280"/>
            <a:ext cx="164592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1" name="Text 79"/>
          <p:cNvSpPr/>
          <p:nvPr/>
        </p:nvSpPr>
        <p:spPr>
          <a:xfrm>
            <a:off x="1938528" y="5669280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547872" y="5669280"/>
            <a:ext cx="2468880" cy="338328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3584448" y="5669280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dropout in classifier FC layers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47472" y="6044184"/>
            <a:ext cx="15544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5" name="Text 83"/>
          <p:cNvSpPr/>
          <p:nvPr/>
        </p:nvSpPr>
        <p:spPr>
          <a:xfrm>
            <a:off x="384048" y="6044184"/>
            <a:ext cx="14996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901952" y="6044184"/>
            <a:ext cx="164592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1938528" y="6044184"/>
            <a:ext cx="1591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CUDA/MPS/CPU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547872" y="6044184"/>
            <a:ext cx="24688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3584448" y="6044184"/>
            <a:ext cx="241401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Auto-detected; Apple Silicon MPS supported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446520" y="1115568"/>
            <a:ext cx="5074920" cy="5303520"/>
          </a:xfrm>
          <a:prstGeom prst="rect">
            <a:avLst/>
          </a:prstGeom>
          <a:solidFill>
            <a:srgbClr val="E9ECE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1" name="Shape 89"/>
          <p:cNvSpPr/>
          <p:nvPr/>
        </p:nvSpPr>
        <p:spPr>
          <a:xfrm>
            <a:off x="6446520" y="1115568"/>
            <a:ext cx="507492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6519672" y="112471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&amp; CLASS WEIGHTING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583680" y="1536192"/>
            <a:ext cx="4828032" cy="749808"/>
          </a:xfrm>
          <a:prstGeom prst="rect">
            <a:avLst/>
          </a:prstGeom>
          <a:solidFill>
            <a:srgbClr val="003366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4" name="Text 92"/>
          <p:cNvSpPr/>
          <p:nvPr/>
        </p:nvSpPr>
        <p:spPr>
          <a:xfrm>
            <a:off x="6583680" y="1554480"/>
            <a:ext cx="4828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class_weights = [1404/884, 1.0]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6583680" y="1920240"/>
            <a:ext cx="4828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[1.587,  1.0]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565392" y="2459736"/>
            <a:ext cx="54864" cy="43891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7" name="Text 95"/>
          <p:cNvSpPr/>
          <p:nvPr/>
        </p:nvSpPr>
        <p:spPr>
          <a:xfrm>
            <a:off x="6675120" y="24231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weight the loss?: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675120" y="2679192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has 1,404 yes vs 884 no images (imbalanced). Without weighting, model biases toward majority 'yes' class.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565392" y="3118104"/>
            <a:ext cx="54864" cy="43891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0" name="Text 98"/>
          <p:cNvSpPr/>
          <p:nvPr/>
        </p:nvSpPr>
        <p:spPr>
          <a:xfrm>
            <a:off x="6675120" y="30815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for 'no' class: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675120" y="3337560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1404÷884≈1.587. Every misclassified no-tumor sample incurs 58.7% MORE penalty, compensating for fewer samples.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565392" y="3776472"/>
            <a:ext cx="54864" cy="43891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3" name="Text 101"/>
          <p:cNvSpPr/>
          <p:nvPr/>
        </p:nvSpPr>
        <p:spPr>
          <a:xfrm>
            <a:off x="6675120" y="373989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for 'yes' class: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6675120" y="3995928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(baseline). No extra penalty; already majority class in augmented set.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6565392" y="4434840"/>
            <a:ext cx="54864" cy="43891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6" name="Text 104"/>
          <p:cNvSpPr/>
          <p:nvPr/>
        </p:nvSpPr>
        <p:spPr>
          <a:xfrm>
            <a:off x="6675120" y="43982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training: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6675120" y="4654296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model to learn no-tumor features as carefully as tumor features — improves minority-class recall.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565392" y="5093208"/>
            <a:ext cx="54864" cy="43891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9" name="Text 107"/>
          <p:cNvSpPr/>
          <p:nvPr/>
        </p:nvSpPr>
        <p:spPr>
          <a:xfrm>
            <a:off x="6675120" y="50566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regularization: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6675120" y="531266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get_l2_loss(): λ × Σ‖W‖₂² added to CrossEntropy each step. Keeps all weights small and well-distributed.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6565392" y="5751576"/>
            <a:ext cx="54864" cy="43891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2" name="Text 110"/>
          <p:cNvSpPr/>
          <p:nvPr/>
        </p:nvSpPr>
        <p:spPr>
          <a:xfrm>
            <a:off x="6675120" y="57150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loss formula: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6675120" y="5971032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CrossEntropy(ŷ, y, weights) + λ · Σ‖W‖₂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562356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562356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29184" y="112471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LOOP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508760"/>
            <a:ext cx="96012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47472" y="15087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" y="1892808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66928" y="1837944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model.train() — enables dropout and batchnorm in training mode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" y="2276856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66928" y="222199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loop: move tensors to device → zero_grad() → forward() → compute loss (CrossEntropy + L2) → backward() → optimizer.step()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" y="2660904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66928" y="26060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Accumulate: total loss, predictions, true labels across all batches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" y="3044952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566928" y="299008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epoch train accuracy and weighted F1-score after full pass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447288"/>
            <a:ext cx="96012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347472" y="34472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0624" y="3831336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566928" y="377647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model.eval() + torch.no_grad() — disables gradient tracking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0624" y="4215384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566928" y="41605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 pass: forward only, compute val loss, val accuracy, val F1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0624" y="4599432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566928" y="45445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weight updates — pure measurement of generalization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5001768"/>
            <a:ext cx="96012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347472" y="50017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0624" y="5385816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566928" y="53309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scheduler.step(val_f1) — ReduceLROnPlateau updates LR based on F1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0624" y="5769864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566928" y="57150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 F1 stagnant for 4 epochs → LR × 0.6 (floor = 1×10⁻⁶)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6172200"/>
            <a:ext cx="96012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347472" y="61722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0624" y="6556248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566928" y="6501384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val_f1 &gt; best_val_f1: immediately run test set evaluation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0624" y="6940296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566928" y="688543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 { epoch, model_state_dict, best_val_f1, best_test_f1 }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0624" y="7324344"/>
            <a:ext cx="91440" cy="914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566928" y="72694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results/best_brain_tumor_model.pth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0760" y="1115568"/>
            <a:ext cx="544068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5" name="Shape 43"/>
          <p:cNvSpPr/>
          <p:nvPr/>
        </p:nvSpPr>
        <p:spPr>
          <a:xfrm>
            <a:off x="6080760" y="1115568"/>
            <a:ext cx="544068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6153912" y="11247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BEHAVIOR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1536192"/>
            <a:ext cx="109728" cy="10972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6327648" y="1499616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1–8: Rapid loss reduction — model learns basic MRI features (edges, shapes, contrast).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72200" y="2011680"/>
            <a:ext cx="109728" cy="10972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0" name="Text 48"/>
          <p:cNvSpPr/>
          <p:nvPr/>
        </p:nvSpPr>
        <p:spPr>
          <a:xfrm>
            <a:off x="6327648" y="197510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9–20: Validation F1 peaks; LR may begin reducing. Model enters fine-tuning phase.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72200" y="2487168"/>
            <a:ext cx="109728" cy="10972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6327648" y="245059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21–30: Losses stabilize. Dropout + weight decay prevent validation F1 degradation.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72200" y="2962656"/>
            <a:ext cx="109728" cy="10972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6327648" y="29260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saved at epoch with highest val F1 — not necessarily final epoch.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80760" y="3730752"/>
            <a:ext cx="544068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6" name="Shape 54"/>
          <p:cNvSpPr/>
          <p:nvPr/>
        </p:nvSpPr>
        <p:spPr>
          <a:xfrm>
            <a:off x="6080760" y="3730752"/>
            <a:ext cx="544068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6153912" y="373989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 PER EPOCH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72200" y="4133088"/>
            <a:ext cx="5230368" cy="301752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6217920" y="4133088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973568" y="4133088"/>
            <a:ext cx="3310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CrossEntropy + L2 per sample over full training set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72200" y="4480560"/>
            <a:ext cx="5230368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6217920" y="448056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973568" y="4480560"/>
            <a:ext cx="3310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 on training data (informational reference)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172200" y="4828032"/>
            <a:ext cx="5230368" cy="301752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6217920" y="4828032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973568" y="4828032"/>
            <a:ext cx="3310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on training set — monitors training quality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72200" y="5175504"/>
            <a:ext cx="5230368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6217920" y="5175504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973568" y="5175504"/>
            <a:ext cx="3310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 on validation set (no L2 term added)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172200" y="5522976"/>
            <a:ext cx="5230368" cy="301752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6217920" y="5522976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973568" y="5522976"/>
            <a:ext cx="3310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 on 39 validation images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72200" y="5870448"/>
            <a:ext cx="5230368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6217920" y="5870448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 ★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973568" y="5870448"/>
            <a:ext cx="33101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for model selection and LR scheduling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2724912" cy="1115568"/>
          </a:xfrm>
          <a:prstGeom prst="rect">
            <a:avLst/>
          </a:prstGeom>
          <a:solidFill>
            <a:srgbClr val="003366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256032" y="1133856"/>
            <a:ext cx="2724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89.47%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" y="1828800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1115568"/>
            <a:ext cx="2724912" cy="1115568"/>
          </a:xfrm>
          <a:prstGeom prst="rect">
            <a:avLst/>
          </a:prstGeom>
          <a:solidFill>
            <a:srgbClr val="003366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108960" y="1133856"/>
            <a:ext cx="2724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108960" y="1828800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61888" y="1115568"/>
            <a:ext cx="2724912" cy="1115568"/>
          </a:xfrm>
          <a:prstGeom prst="rect">
            <a:avLst/>
          </a:prstGeom>
          <a:solidFill>
            <a:srgbClr val="003366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961888" y="1133856"/>
            <a:ext cx="2724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961888" y="1828800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14816" y="1115568"/>
            <a:ext cx="2724912" cy="1115568"/>
          </a:xfrm>
          <a:prstGeom prst="rect">
            <a:avLst/>
          </a:prstGeom>
          <a:solidFill>
            <a:srgbClr val="003366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8814816" y="1133856"/>
            <a:ext cx="2724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814816" y="1828800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" y="2395728"/>
            <a:ext cx="5623560" cy="4041648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256032" y="2395728"/>
            <a:ext cx="562356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329184" y="240487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CLASSIFICATION REPORT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2788920"/>
            <a:ext cx="137160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47472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719072" y="2788920"/>
            <a:ext cx="100584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719072" y="27889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24912" y="2788920"/>
            <a:ext cx="96012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2724912" y="27889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85032" y="2788920"/>
            <a:ext cx="96012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3685032" y="27889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45152" y="2788920"/>
            <a:ext cx="1005840" cy="3657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4645152" y="27889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3200400"/>
            <a:ext cx="137160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347472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719072" y="3200400"/>
            <a:ext cx="100584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1719072" y="3200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24912" y="3200400"/>
            <a:ext cx="96012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2724912" y="32004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85032" y="3200400"/>
            <a:ext cx="96012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3685032" y="32004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45152" y="3200400"/>
            <a:ext cx="100584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4645152" y="3200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47472" y="3712464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347472" y="3712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Tumor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719072" y="3712464"/>
            <a:ext cx="1005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719072" y="37124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24912" y="3712464"/>
            <a:ext cx="960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2724912" y="371246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85032" y="3712464"/>
            <a:ext cx="960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3685032" y="371246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45152" y="3712464"/>
            <a:ext cx="1005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4645152" y="37124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47472" y="4224528"/>
            <a:ext cx="137160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347472" y="4224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719072" y="4224528"/>
            <a:ext cx="100584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1719072" y="42245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24912" y="4224528"/>
            <a:ext cx="96012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2724912" y="422452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685032" y="4224528"/>
            <a:ext cx="96012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3685032" y="422452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645152" y="4224528"/>
            <a:ext cx="100584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4645152" y="42245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47472" y="4736592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347472" y="47365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719072" y="4736592"/>
            <a:ext cx="1005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1719072" y="47365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24912" y="4736592"/>
            <a:ext cx="960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2724912" y="47365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685032" y="4736592"/>
            <a:ext cx="960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3685032" y="47365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645152" y="4736592"/>
            <a:ext cx="1005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4645152" y="47365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47472" y="5248656"/>
            <a:ext cx="137160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5" name="Text 73"/>
          <p:cNvSpPr/>
          <p:nvPr/>
        </p:nvSpPr>
        <p:spPr>
          <a:xfrm>
            <a:off x="347472" y="52486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1719072" y="5248656"/>
            <a:ext cx="100584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1719072" y="52486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724912" y="5248656"/>
            <a:ext cx="96012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9" name="Text 77"/>
          <p:cNvSpPr/>
          <p:nvPr/>
        </p:nvSpPr>
        <p:spPr>
          <a:xfrm>
            <a:off x="2724912" y="524865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685032" y="5248656"/>
            <a:ext cx="96012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1" name="Text 79"/>
          <p:cNvSpPr/>
          <p:nvPr/>
        </p:nvSpPr>
        <p:spPr>
          <a:xfrm>
            <a:off x="3685032" y="524865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645152" y="5248656"/>
            <a:ext cx="1005840" cy="457200"/>
          </a:xfrm>
          <a:prstGeom prst="rect">
            <a:avLst/>
          </a:prstGeom>
          <a:solidFill>
            <a:srgbClr val="EDF2F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4645152" y="52486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347472" y="57790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38 images (23 tumor, 15 no-tumor). Best checkpoint triggered at highest val F1 epoch.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080760" y="2395728"/>
            <a:ext cx="5440680" cy="4041648"/>
          </a:xfrm>
          <a:prstGeom prst="rect">
            <a:avLst/>
          </a:prstGeom>
          <a:solidFill>
            <a:srgbClr val="E9ECE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6" name="Shape 84"/>
          <p:cNvSpPr/>
          <p:nvPr/>
        </p:nvSpPr>
        <p:spPr>
          <a:xfrm>
            <a:off x="6080760" y="2395728"/>
            <a:ext cx="544068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6153912" y="240487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31520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108192" y="3474720"/>
            <a:ext cx="9144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144768" y="512064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TP=20: 20/23 tumor cases correctly identified (87% recall for tumor class).</a:t>
            </a:r>
            <a:endParaRPr lang="en-US" sz="880" dirty="0"/>
          </a:p>
        </p:txBody>
      </p:sp>
      <p:sp>
        <p:nvSpPr>
          <p:cNvPr id="103" name="Text 101"/>
          <p:cNvSpPr/>
          <p:nvPr/>
        </p:nvSpPr>
        <p:spPr>
          <a:xfrm>
            <a:off x="6144768" y="53675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TN=14: 14/15 healthy patients correctly cleared (93% no-tumor recall).</a:t>
            </a:r>
            <a:endParaRPr lang="en-US" sz="880" dirty="0"/>
          </a:p>
        </p:txBody>
      </p:sp>
      <p:sp>
        <p:nvSpPr>
          <p:cNvPr id="104" name="Text 102"/>
          <p:cNvSpPr/>
          <p:nvPr/>
        </p:nvSpPr>
        <p:spPr>
          <a:xfrm>
            <a:off x="6144768" y="561441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FN=3: 3 missed tumors — most critical error. Predicted no-tumor but tumor present.</a:t>
            </a:r>
            <a:endParaRPr lang="en-US" sz="880" dirty="0"/>
          </a:p>
        </p:txBody>
      </p:sp>
      <p:sp>
        <p:nvSpPr>
          <p:cNvPr id="105" name="Text 103"/>
          <p:cNvSpPr/>
          <p:nvPr/>
        </p:nvSpPr>
        <p:spPr>
          <a:xfrm>
            <a:off x="6144768" y="586130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FP=1: 1 false alarm. Predicted tumor but patient was healthy (lower clinical risk).</a:t>
            </a:r>
            <a:endParaRPr lang="en-US" sz="880" dirty="0"/>
          </a:p>
        </p:txBody>
      </p:sp>
      <p:sp>
        <p:nvSpPr>
          <p:cNvPr id="106" name="Text 104"/>
          <p:cNvSpPr/>
          <p:nvPr/>
        </p:nvSpPr>
        <p:spPr>
          <a:xfrm>
            <a:off x="6144768" y="610819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Clinically: FN &gt; FP in severity for cancer screening. FN=3 is acceptable for research prototype.</a:t>
            </a:r>
            <a:endParaRPr lang="en-US" sz="880" dirty="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56CEB2A0-DDA3-29CE-166E-A4EE198D5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294" y="3089482"/>
            <a:ext cx="2697044" cy="20227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5468112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475488" cy="2697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56032" y="2121408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1170432"/>
            <a:ext cx="4809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(253 Raw Images)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" y="1536192"/>
            <a:ext cx="4809744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786384" y="160934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1810512"/>
            <a:ext cx="480974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CNNs need thousands of samples to generalize. With only 253 MRI images, the model risks memorizing training images rather than learning universal tumor features.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86384" y="26517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" y="2852928"/>
            <a:ext cx="4809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augmentation pipeline: 7 techniques × 8 copies = 9× expansion → 1,593 training images. Combined with Dropout (40%), L2 regularization, and AdamW weight decay.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61888" y="1115568"/>
            <a:ext cx="5468112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5961888" y="1115568"/>
            <a:ext cx="475488" cy="2697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5961888" y="2121408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1170432"/>
            <a:ext cx="4809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(1.58:1 Tumor vs No-Tumor)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1536192"/>
            <a:ext cx="4809744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6492240" y="160934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1810512"/>
            <a:ext cx="480974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has ~1,404 yes-tumor vs ~884 no-tumor after augmentation. A naive model could reach 61% accuracy by always predicting 'tumor' — useless clinically.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492240" y="26517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2852928"/>
            <a:ext cx="4809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 class_weights=[1.587, 1.0]. 'No tumor' class incurs 58.7% higher loss. Monitor val F1 (not accuracy) to correctly measure imbalanced performance.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56032" y="3950208"/>
            <a:ext cx="5468112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256032" y="3950208"/>
            <a:ext cx="475488" cy="2697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256032" y="4956048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6384" y="4005072"/>
            <a:ext cx="4809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MPS &amp; Multiprocessing Compatibility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6384" y="4370832"/>
            <a:ext cx="4809744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786384" y="44439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" y="4645152"/>
            <a:ext cx="480974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num_workers&gt;0 caused BrokenPipeError on macOS (OS-level fork restriction). ONNX export failed with ModuleNotFoundError: onnxscript.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786384" y="54864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" y="5687568"/>
            <a:ext cx="4809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num_workers=0 in all DataLoaders. Move BrainTumorDataset to top-level scope (avoids pickling error). pip install onnxscript; export with dynamo=False, opset_version=12.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961888" y="3950208"/>
            <a:ext cx="5468112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5961888" y="3950208"/>
            <a:ext cx="475488" cy="2697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5961888" y="4956048"/>
            <a:ext cx="475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92240" y="4005072"/>
            <a:ext cx="4809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Validation with 39 Images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92240" y="4370832"/>
            <a:ext cx="4809744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6492240" y="44439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4645152"/>
            <a:ext cx="480974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39 validation images, one wrong prediction shifts accuracy by 2.6%. Standard early stopping could prematurely terminate training on noise.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6492240" y="54864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5687568"/>
            <a:ext cx="48097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(patience=4) reduces LR before giving up — more graceful than hard early stopping. Global Average Pooling reduces total parameters to avoid overfitting noise.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920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74320" y="6528816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Deep Learning  |  Usama Latif Virk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562356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562356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29184" y="112471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563624"/>
            <a:ext cx="274320" cy="2743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47472" y="1563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" y="1508760"/>
            <a:ext cx="5047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— No Pretrained Weights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783080"/>
            <a:ext cx="5047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BrainTumorCNN with 3 ResidualBlocks + GAP + Kaiming init. Designed specifically for MRI binary classification on limited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368296"/>
            <a:ext cx="274320" cy="2743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47472" y="23682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" y="2313432"/>
            <a:ext cx="5047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89.47% Accuracy / 91.30% F1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2587752"/>
            <a:ext cx="5047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test performance starting from only 253 raw images — demonstrating the power of deliberate architecture and regularization choices.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172968"/>
            <a:ext cx="274320" cy="2743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347472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3118104"/>
            <a:ext cx="5047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Augmentation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" y="3392424"/>
            <a:ext cx="5047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prepare_dataset.py: 7 augmentation techniques expand 177 training images to 1,593 — 9× expansion with fully reproducible, inspectable results.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977640"/>
            <a:ext cx="274320" cy="2743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47472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" y="3922776"/>
            <a:ext cx="5047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Browser Demo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4197096"/>
            <a:ext cx="5047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exported to ONNX (opset 12) and deployed via ONNX Runtime Web. Runs entirely client-side in any browser — no server, no installation required.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4782312"/>
            <a:ext cx="274320" cy="2743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347472" y="4782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" y="4727448"/>
            <a:ext cx="5047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5001768"/>
            <a:ext cx="5047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 class weighting ensures balanced performance across both tumor and no-tumor categories despite 1.58:1 imbalance.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5586984"/>
            <a:ext cx="274320" cy="2743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347472" y="5586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" y="5532120"/>
            <a:ext cx="5047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Codebase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" y="5806440"/>
            <a:ext cx="5047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src/ structure, full GitHub repo with main + demo branch, Netlify-deployable interactive demo with real-time MRI classification.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0760" y="1115568"/>
            <a:ext cx="5440680" cy="5303520"/>
          </a:xfrm>
          <a:prstGeom prst="rect">
            <a:avLst/>
          </a:prstGeom>
          <a:solidFill>
            <a:srgbClr val="E9ECEF"/>
          </a:solidFill>
          <a:ln w="15240">
            <a:solidFill>
              <a:srgbClr val="D4AF37"/>
            </a:solidFill>
            <a:prstDash val="solid"/>
          </a:ln>
          <a:effectLst>
            <a:outerShdw blurRad="50800" dist="25400" dir="27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6080760" y="1115568"/>
            <a:ext cx="5440680" cy="29260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6153912" y="11247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1508760"/>
            <a:ext cx="347472" cy="34747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6172200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65392" y="150876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Tumor Classification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65392" y="1783080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Glioma / Meningioma / Pituitary detection. Requires multi-class softmax and a new labeled dataset such as BraTS.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2313432"/>
            <a:ext cx="347472" cy="34747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6172200" y="2313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65392" y="2313432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(ResNet/EfficientNet)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65392" y="2587752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pretrained ImageNet models. Expected to push accuracy above 95% with same dataset size.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3118104"/>
            <a:ext cx="347472" cy="34747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6172200" y="3118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65392" y="3118104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 — BraTS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65392" y="3392424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Brain Tumor Segmentation dataset: 1,000+ multi-modal MRI scans (T1, T2, FLAIR) for stronger generalization.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72200" y="3922776"/>
            <a:ext cx="347472" cy="34747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6172200" y="3922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65392" y="3922776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65392" y="4197096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Gradient-weighted Class Activation Mapping to visualize exactly which MRI regions triggered the prediction — critical for clinical trust.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72200" y="4727448"/>
            <a:ext cx="347472" cy="34747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6172200" y="4727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65392" y="472744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Volumetric CNN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65392" y="5001768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full 3D MRI volume stacks. 3D convolutions capture inter-slice continuity for more accurate tumor boundary detection.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72200" y="5532120"/>
            <a:ext cx="347472" cy="347472"/>
          </a:xfrm>
          <a:prstGeom prst="rect">
            <a:avLst/>
          </a:prstGeom>
          <a:solidFill>
            <a:srgbClr val="003366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6172200" y="5532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65392" y="5532120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API Deployment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565392" y="5806440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FastAPI REST service with DICOM input support. Integrate with hospital PACS systems for real clinical workflow.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4224528"/>
            <a:ext cx="12192000" cy="2743200"/>
          </a:xfrm>
          <a:prstGeom prst="rect">
            <a:avLst/>
          </a:prstGeom>
          <a:solidFill>
            <a:srgbClr val="001F4D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0" y="4206240"/>
            <a:ext cx="12192000" cy="54864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  /  Xièxiè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0" y="3090672"/>
            <a:ext cx="5486400" cy="5029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1005840" y="4407408"/>
            <a:ext cx="2377440" cy="1389888"/>
          </a:xfrm>
          <a:prstGeom prst="rect">
            <a:avLst/>
          </a:prstGeom>
          <a:solidFill>
            <a:srgbClr val="001F4D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1005840" y="44439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89.47%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51389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03320" y="4407408"/>
            <a:ext cx="2377440" cy="1389888"/>
          </a:xfrm>
          <a:prstGeom prst="rect">
            <a:avLst/>
          </a:prstGeom>
          <a:solidFill>
            <a:srgbClr val="001F4D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703320" y="44439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3320" y="51389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4407408"/>
            <a:ext cx="2377440" cy="1389888"/>
          </a:xfrm>
          <a:prstGeom prst="rect">
            <a:avLst/>
          </a:prstGeom>
          <a:solidFill>
            <a:srgbClr val="001F4D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400800" y="44439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455,682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51389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4407408"/>
            <a:ext cx="2377440" cy="1389888"/>
          </a:xfrm>
          <a:prstGeom prst="rect">
            <a:avLst/>
          </a:prstGeom>
          <a:solidFill>
            <a:srgbClr val="001F4D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9098280" y="44439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98280" y="51389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Images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89788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Usama Latif Virk  ·  github.com/Usamavirk444/brain_tumor_detection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2603</Words>
  <Application>Microsoft Macintosh PowerPoint</Application>
  <PresentationFormat>Widescreen</PresentationFormat>
  <Paragraphs>435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Usama Virk</cp:lastModifiedBy>
  <cp:revision>5</cp:revision>
  <dcterms:created xsi:type="dcterms:W3CDTF">2026-03-31T10:29:58Z</dcterms:created>
  <dcterms:modified xsi:type="dcterms:W3CDTF">2026-03-31T14:17:25Z</dcterms:modified>
</cp:coreProperties>
</file>