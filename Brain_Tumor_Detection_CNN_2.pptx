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5" r:id="rId2"/>
    <p:sldId id="271" r:id="rId3"/>
    <p:sldId id="290" r:id="rId4"/>
    <p:sldId id="291" r:id="rId5"/>
    <p:sldId id="292" r:id="rId6"/>
    <p:sldId id="294" r:id="rId7"/>
    <p:sldId id="293" r:id="rId8"/>
    <p:sldId id="288" r:id="rId9"/>
    <p:sldId id="295" r:id="rId10"/>
    <p:sldId id="296" r:id="rId11"/>
    <p:sldId id="28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5" autoAdjust="0"/>
    <p:restoredTop sz="94643"/>
  </p:normalViewPr>
  <p:slideViewPr>
    <p:cSldViewPr snapToGrid="0">
      <p:cViewPr>
        <p:scale>
          <a:sx n="104" d="100"/>
          <a:sy n="104" d="100"/>
        </p:scale>
        <p:origin x="1008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5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7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9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7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2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6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8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7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0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D21780C-FE92-4391-9813-80EFA679C47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8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216C-8B80-D6E9-30CE-725F93128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Brain Tumor Classification Using Convolutional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BAB55-22F4-9D37-B7EE-14075CC90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Usama Latif Virk</a:t>
            </a:r>
          </a:p>
        </p:txBody>
      </p:sp>
    </p:spTree>
    <p:extLst>
      <p:ext uri="{BB962C8B-B14F-4D97-AF65-F5344CB8AC3E}">
        <p14:creationId xmlns:p14="http://schemas.microsoft.com/office/powerpoint/2010/main" val="46746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646B-3020-9A24-4D2C-1A13251D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878008"/>
            <a:ext cx="7729728" cy="3101983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Problem Statement &amp; Motivation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Dataset Description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Data Preprocessing &amp; Augmentation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Model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Training Configuration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Experimental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Conclusion &amp; Future Work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578299-4473-7E0B-A221-BB27B699E822}"/>
              </a:ext>
            </a:extLst>
          </p:cNvPr>
          <p:cNvSpPr txBox="1">
            <a:spLocks/>
          </p:cNvSpPr>
          <p:nvPr/>
        </p:nvSpPr>
        <p:spPr>
          <a:xfrm>
            <a:off x="2231136" y="187979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12423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2C92-1955-EC06-DFCC-21AD8E8D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BFE9-0D0B-7D3B-20EE-9207628F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7979"/>
            <a:ext cx="7729728" cy="1188720"/>
          </a:xfrm>
        </p:spPr>
        <p:txBody>
          <a:bodyPr/>
          <a:lstStyle/>
          <a:p>
            <a:r>
              <a:rPr lang="en-US" dirty="0"/>
              <a:t>Problem Statement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005D-0DF9-6C1F-8DE6-4191CE164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03464"/>
            <a:ext cx="7729728" cy="3101983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cs typeface="Times New Roman" panose="02020603050405020304" pitchFamily="18" charset="0"/>
              </a:rPr>
              <a:t>Brain tumors are one of the most life-threatening neurological conditions worldwide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Manual MRI analysis by radiologists is time-consuming and prone to human error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Deep learning offers automated, fast, and consistent diagnosis support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Goal: Build a binary CNN classifier to detect the presence of brain tumors in MRI scans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Input: Brain MRI image (JPG, resized to 224×224, RGB)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Output: Class 0 = No Tumor | Class 1 = Tumor Detected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Approach: Custom CNN trained from scratch — no pretrained weights</a:t>
            </a:r>
          </a:p>
        </p:txBody>
      </p:sp>
    </p:spTree>
    <p:extLst>
      <p:ext uri="{BB962C8B-B14F-4D97-AF65-F5344CB8AC3E}">
        <p14:creationId xmlns:p14="http://schemas.microsoft.com/office/powerpoint/2010/main" val="28261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E231-A076-167B-F000-1578157F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22A3-439F-1858-6D71-97DF799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7979"/>
            <a:ext cx="7729728" cy="1188720"/>
          </a:xfrm>
        </p:spPr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EB88B-924C-6A6A-3071-B997F304C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55863"/>
            <a:ext cx="7729728" cy="3101983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Source:</a:t>
            </a:r>
            <a:r>
              <a:rPr lang="en-US" sz="1600" dirty="0">
                <a:cs typeface="Times New Roman" panose="02020603050405020304" pitchFamily="18" charset="0"/>
              </a:rPr>
              <a:t> Kaggle Brain MRI Images for Brain Tumor Detection</a:t>
            </a:r>
          </a:p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Total Images:</a:t>
            </a:r>
            <a:r>
              <a:rPr lang="en-US" sz="1600" dirty="0">
                <a:cs typeface="Times New Roman" panose="02020603050405020304" pitchFamily="18" charset="0"/>
              </a:rPr>
              <a:t> 253</a:t>
            </a:r>
          </a:p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Class Distribution:</a:t>
            </a:r>
            <a:r>
              <a:rPr lang="en-US" sz="1600" dirty="0">
                <a:cs typeface="Times New Roman" panose="02020603050405020304" pitchFamily="18" charset="0"/>
              </a:rPr>
              <a:t> Yes (Tumor) = 155 | No (Tumor) = 98</a:t>
            </a:r>
          </a:p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Class Imbalance:</a:t>
            </a:r>
            <a:r>
              <a:rPr lang="en-US" sz="1600" dirty="0">
                <a:cs typeface="Times New Roman" panose="02020603050405020304" pitchFamily="18" charset="0"/>
              </a:rPr>
              <a:t> 1.58 : 1 ratio — addressed using class weights in loss function</a:t>
            </a:r>
          </a:p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Split:</a:t>
            </a:r>
            <a:r>
              <a:rPr lang="en-US" sz="1600" dirty="0">
                <a:cs typeface="Times New Roman" panose="02020603050405020304" pitchFamily="18" charset="0"/>
              </a:rPr>
              <a:t> Train 70% / Validation 15% / Test 15% — fixed seed = 42 for reproducibility</a:t>
            </a:r>
          </a:p>
          <a:p>
            <a:pPr algn="just"/>
            <a:r>
              <a:rPr lang="en-US" sz="1600" b="1" dirty="0">
                <a:cs typeface="Times New Roman" panose="02020603050405020304" pitchFamily="18" charset="0"/>
              </a:rPr>
              <a:t>After Augmentation:</a:t>
            </a:r>
            <a:r>
              <a:rPr lang="en-US" sz="1600" dirty="0">
                <a:cs typeface="Times New Roman" panose="02020603050405020304" pitchFamily="18" charset="0"/>
              </a:rPr>
              <a:t> Train set expanded to 2,288 images (×8 offline augmentation)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All images converted to RGB and resized to 224×224 pixels</a:t>
            </a:r>
          </a:p>
        </p:txBody>
      </p:sp>
    </p:spTree>
    <p:extLst>
      <p:ext uri="{BB962C8B-B14F-4D97-AF65-F5344CB8AC3E}">
        <p14:creationId xmlns:p14="http://schemas.microsoft.com/office/powerpoint/2010/main" val="259956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A5ED-F3FC-0205-01D5-9BFD668B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AFB3-B098-5EF6-2F6B-7941370D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6547"/>
            <a:ext cx="7729728" cy="1188720"/>
          </a:xfrm>
        </p:spPr>
        <p:txBody>
          <a:bodyPr/>
          <a:lstStyle/>
          <a:p>
            <a:r>
              <a:rPr lang="en-US" dirty="0"/>
              <a:t>Data Preprocessing &amp;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47E96-A8A1-403E-C058-C7D09111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69718"/>
            <a:ext cx="7729728" cy="447868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cs typeface="Times New Roman" panose="02020603050405020304" pitchFamily="18" charset="0"/>
              </a:rPr>
              <a:t>Why Augmentation? </a:t>
            </a:r>
            <a:r>
              <a:rPr lang="en-US" sz="1600" dirty="0">
                <a:cs typeface="Times New Roman" panose="02020603050405020304" pitchFamily="18" charset="0"/>
              </a:rPr>
              <a:t>Only 177 training images — insufficient for training a deep CNN from scratch</a:t>
            </a:r>
          </a:p>
          <a:p>
            <a:pPr marL="0" indent="0" algn="just">
              <a:buNone/>
            </a:pPr>
            <a:r>
              <a:rPr lang="en-US" sz="1600" b="1" dirty="0">
                <a:cs typeface="Times New Roman" panose="02020603050405020304" pitchFamily="18" charset="0"/>
              </a:rPr>
              <a:t>Method: </a:t>
            </a:r>
            <a:r>
              <a:rPr lang="en-US" sz="1600" dirty="0">
                <a:cs typeface="Times New Roman" panose="02020603050405020304" pitchFamily="18" charset="0"/>
              </a:rPr>
              <a:t>Offline augmentation — 8 new copies generated per training image and saved to disk</a:t>
            </a:r>
          </a:p>
          <a:p>
            <a:pPr marL="0" indent="0" algn="just">
              <a:buNone/>
            </a:pPr>
            <a:r>
              <a:rPr lang="en-US" sz="1600" b="1" dirty="0">
                <a:cs typeface="Times New Roman" panose="02020603050405020304" pitchFamily="18" charset="0"/>
              </a:rPr>
              <a:t>Augmentation techniques applied to training set only: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RandomHorizontalFlip</a:t>
            </a:r>
            <a:r>
              <a:rPr lang="en-US" sz="1600" dirty="0">
                <a:cs typeface="Times New Roman" panose="02020603050405020304" pitchFamily="18" charset="0"/>
              </a:rPr>
              <a:t> (p=0.5) — mirrors image left to right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RandomVerticalFlip</a:t>
            </a:r>
            <a:r>
              <a:rPr lang="en-US" sz="1600" dirty="0">
                <a:cs typeface="Times New Roman" panose="02020603050405020304" pitchFamily="18" charset="0"/>
              </a:rPr>
              <a:t> (p=0.3) — mirrors image top to bottom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RandomRotation</a:t>
            </a:r>
            <a:r>
              <a:rPr lang="en-US" sz="1600" dirty="0">
                <a:cs typeface="Times New Roman" panose="02020603050405020304" pitchFamily="18" charset="0"/>
              </a:rPr>
              <a:t> (±20°) — simulates different scan angles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ColorJitter</a:t>
            </a:r>
            <a:r>
              <a:rPr lang="en-US" sz="1600" dirty="0">
                <a:cs typeface="Times New Roman" panose="02020603050405020304" pitchFamily="18" charset="0"/>
              </a:rPr>
              <a:t> (brightness=0.25, contrast=0.25) — simulates scanner variation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RandomResizedCrop</a:t>
            </a:r>
            <a:r>
              <a:rPr lang="en-US" sz="1600" dirty="0">
                <a:cs typeface="Times New Roman" panose="02020603050405020304" pitchFamily="18" charset="0"/>
              </a:rPr>
              <a:t> (scale 75–100%) — random zoom and crop</a:t>
            </a:r>
          </a:p>
          <a:p>
            <a:pPr algn="just"/>
            <a:r>
              <a:rPr lang="en-US" sz="1600" dirty="0" err="1">
                <a:cs typeface="Times New Roman" panose="02020603050405020304" pitchFamily="18" charset="0"/>
              </a:rPr>
              <a:t>RandomGrayscale</a:t>
            </a:r>
            <a:r>
              <a:rPr lang="en-US" sz="1600" dirty="0">
                <a:cs typeface="Times New Roman" panose="02020603050405020304" pitchFamily="18" charset="0"/>
              </a:rPr>
              <a:t> (p=0.05) — rare grayscale simulation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Val/Test: No augmentation applied — Resize(224) + Normalize only</a:t>
            </a:r>
          </a:p>
          <a:p>
            <a:pPr algn="just"/>
            <a:r>
              <a:rPr lang="en-US" sz="1600" dirty="0">
                <a:cs typeface="Times New Roman" panose="02020603050405020304" pitchFamily="18" charset="0"/>
              </a:rPr>
              <a:t>Normalization: ImageNet mean=[0.485,0.456,0.406], std=[0.229,0.224,0.225]</a:t>
            </a:r>
          </a:p>
        </p:txBody>
      </p:sp>
    </p:spTree>
    <p:extLst>
      <p:ext uri="{BB962C8B-B14F-4D97-AF65-F5344CB8AC3E}">
        <p14:creationId xmlns:p14="http://schemas.microsoft.com/office/powerpoint/2010/main" val="363116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8A18-D9A8-DA29-0C46-8EAD27C0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50D1-CE36-954F-ECC5-F5697ED8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1"/>
            <a:ext cx="7729728" cy="1188720"/>
          </a:xfrm>
        </p:spPr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A41CC-2C1E-0DC7-9EA3-6AD71A983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22445"/>
            <a:ext cx="7283567" cy="5235555"/>
          </a:xfrm>
        </p:spPr>
        <p:txBody>
          <a:bodyPr>
            <a:noAutofit/>
          </a:bodyPr>
          <a:lstStyle/>
          <a:p>
            <a:r>
              <a:rPr lang="en-US" sz="1600" dirty="0"/>
              <a:t>Custom CNN: </a:t>
            </a:r>
            <a:r>
              <a:rPr lang="en-US" sz="1600" dirty="0" err="1"/>
              <a:t>BrainTumorCNN</a:t>
            </a:r>
            <a:r>
              <a:rPr lang="en-US" sz="1600" dirty="0"/>
              <a:t> — designed for small medical imaging datasets</a:t>
            </a:r>
          </a:p>
          <a:p>
            <a:r>
              <a:rPr lang="en-US" sz="1600" dirty="0"/>
              <a:t>Total parameters: ~455,682 (all trainable)</a:t>
            </a:r>
          </a:p>
          <a:p>
            <a:r>
              <a:rPr lang="en-US" sz="1600" dirty="0"/>
              <a:t>Layer-by-layer:</a:t>
            </a:r>
          </a:p>
          <a:p>
            <a:r>
              <a:rPr lang="en-US" sz="1600" dirty="0"/>
              <a:t>Input: 3×224×224</a:t>
            </a:r>
          </a:p>
          <a:p>
            <a:r>
              <a:rPr lang="en-US" sz="1600" dirty="0"/>
              <a:t>Conv2d(3→32, 3×3) + </a:t>
            </a:r>
            <a:r>
              <a:rPr lang="en-US" sz="1600" dirty="0" err="1"/>
              <a:t>BatchNorm</a:t>
            </a:r>
            <a:r>
              <a:rPr lang="en-US" sz="1600" dirty="0"/>
              <a:t> + </a:t>
            </a:r>
            <a:r>
              <a:rPr lang="en-US" sz="1600" dirty="0" err="1"/>
              <a:t>ReLU</a:t>
            </a:r>
            <a:r>
              <a:rPr lang="en-US" sz="1600" dirty="0"/>
              <a:t> → </a:t>
            </a:r>
            <a:r>
              <a:rPr lang="en-US" sz="1600" dirty="0" err="1"/>
              <a:t>MaxPool</a:t>
            </a:r>
            <a:r>
              <a:rPr lang="en-US" sz="1600" dirty="0"/>
              <a:t> → 32×112×112</a:t>
            </a:r>
          </a:p>
          <a:p>
            <a:r>
              <a:rPr lang="en-US" sz="1600" dirty="0" err="1"/>
              <a:t>ResidualBlock</a:t>
            </a:r>
            <a:r>
              <a:rPr lang="en-US" sz="1600" dirty="0"/>
              <a:t> 1: 32→64, stride=2 → 64×56×56</a:t>
            </a:r>
          </a:p>
          <a:p>
            <a:r>
              <a:rPr lang="en-US" sz="1600" dirty="0" err="1"/>
              <a:t>ResidualBlock</a:t>
            </a:r>
            <a:r>
              <a:rPr lang="en-US" sz="1600" dirty="0"/>
              <a:t> 2: 64→128, stride=2 → 128×28×28</a:t>
            </a:r>
          </a:p>
          <a:p>
            <a:r>
              <a:rPr lang="en-US" sz="1600" dirty="0" err="1"/>
              <a:t>ResidualBlock</a:t>
            </a:r>
            <a:r>
              <a:rPr lang="en-US" sz="1600" dirty="0"/>
              <a:t> 3: 128→256, stride=2 → 256×14×14</a:t>
            </a:r>
          </a:p>
          <a:p>
            <a:r>
              <a:rPr lang="en-US" sz="1600" dirty="0"/>
              <a:t>Dropout2d(p=0.1) — spatial regularization</a:t>
            </a:r>
          </a:p>
          <a:p>
            <a:r>
              <a:rPr lang="en-US" sz="1600" dirty="0"/>
              <a:t>AdaptiveAvgPool2d(1×1) — Global Average Pooling → 256</a:t>
            </a:r>
          </a:p>
          <a:p>
            <a:r>
              <a:rPr lang="en-US" sz="1600" dirty="0"/>
              <a:t>Flatten → 256</a:t>
            </a:r>
          </a:p>
          <a:p>
            <a:r>
              <a:rPr lang="en-US" sz="1600" dirty="0"/>
              <a:t>Linear(256→128) + BatchNorm1d + </a:t>
            </a:r>
            <a:r>
              <a:rPr lang="en-US" sz="1600" dirty="0" err="1"/>
              <a:t>ReLU</a:t>
            </a:r>
            <a:endParaRPr lang="en-US" sz="1600" dirty="0"/>
          </a:p>
          <a:p>
            <a:r>
              <a:rPr lang="en-US" sz="1600" dirty="0"/>
              <a:t>Dropout(p=0.4)</a:t>
            </a:r>
          </a:p>
          <a:p>
            <a:r>
              <a:rPr lang="en-US" sz="1600" dirty="0"/>
              <a:t>Linear(128→2) + </a:t>
            </a:r>
            <a:r>
              <a:rPr lang="en-US" sz="1600" dirty="0" err="1"/>
              <a:t>Softmax</a:t>
            </a:r>
            <a:r>
              <a:rPr lang="en-US" sz="1600" dirty="0"/>
              <a:t> → [No Tumor, Tumor]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B62DBE-5A29-49B0-DC25-22D8FED71C1C}"/>
              </a:ext>
            </a:extLst>
          </p:cNvPr>
          <p:cNvSpPr txBox="1">
            <a:spLocks/>
          </p:cNvSpPr>
          <p:nvPr/>
        </p:nvSpPr>
        <p:spPr>
          <a:xfrm>
            <a:off x="159319" y="1725418"/>
            <a:ext cx="2071817" cy="4929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Key design decisions:</a:t>
            </a:r>
          </a:p>
          <a:p>
            <a:r>
              <a:rPr lang="en-US" sz="1600" dirty="0"/>
              <a:t>Residual (skip) connections prevent vanishing gradients</a:t>
            </a:r>
          </a:p>
          <a:p>
            <a:r>
              <a:rPr lang="en-US" sz="1600" dirty="0"/>
              <a:t>Global Average Pooling reduces parameters vs Flatten</a:t>
            </a:r>
          </a:p>
          <a:p>
            <a:r>
              <a:rPr lang="en-US" sz="1600" dirty="0"/>
              <a:t>Two-level Dropout prevents overfitting</a:t>
            </a:r>
          </a:p>
          <a:p>
            <a:r>
              <a:rPr lang="en-US" sz="1600" dirty="0"/>
              <a:t>Kaiming weight initialization for stable training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ED5EDF6-C51D-0C59-FD72-9E60D54F8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5956" y="2353199"/>
            <a:ext cx="2709816" cy="367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88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4BD1-8BF3-25FC-65A0-FBE59FAEE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F149-272C-AABC-70B6-6F567EAC7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1"/>
            <a:ext cx="7729728" cy="1188720"/>
          </a:xfrm>
        </p:spPr>
        <p:txBody>
          <a:bodyPr/>
          <a:lstStyle/>
          <a:p>
            <a:r>
              <a:rPr lang="en-US" dirty="0"/>
              <a:t>Training Configuration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C0C7FA-152A-DF03-F195-E04D0521F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54915"/>
              </p:ext>
            </p:extLst>
          </p:nvPr>
        </p:nvGraphicFramePr>
        <p:xfrm>
          <a:off x="2382554" y="1760536"/>
          <a:ext cx="7426892" cy="44799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13446">
                  <a:extLst>
                    <a:ext uri="{9D8B030D-6E8A-4147-A177-3AD203B41FA5}">
                      <a16:colId xmlns:a16="http://schemas.microsoft.com/office/drawing/2014/main" val="4177000579"/>
                    </a:ext>
                  </a:extLst>
                </a:gridCol>
                <a:gridCol w="3713446">
                  <a:extLst>
                    <a:ext uri="{9D8B030D-6E8A-4147-A177-3AD203B41FA5}">
                      <a16:colId xmlns:a16="http://schemas.microsoft.com/office/drawing/2014/main" val="1987091830"/>
                    </a:ext>
                  </a:extLst>
                </a:gridCol>
              </a:tblGrid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Parameter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Value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83079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Optimizer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/>
                        <a:t>AdamW</a:t>
                      </a:r>
                      <a:endParaRPr lang="en-US" sz="1700" dirty="0"/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64851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Learning Rate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5e-4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652837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Weight Decay (L2)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5e-5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211857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Batch Size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700" dirty="0"/>
                        <a:t>16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721749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Epochs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700" dirty="0"/>
                        <a:t>30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748247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Loss Function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/>
                        <a:t>CrossEntropyLoss</a:t>
                      </a:r>
                      <a:endParaRPr lang="en-US" sz="1700" dirty="0"/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370962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Class Weights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No=1.59, Yes=1.0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568823"/>
                  </a:ext>
                </a:extLst>
              </a:tr>
              <a:tr h="614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LR Scheduler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/>
                        <a:t>ReduceLROnPlateau</a:t>
                      </a:r>
                      <a:r>
                        <a:rPr lang="en-US" sz="1700" dirty="0"/>
                        <a:t> (factor=0.6, patience=4)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496972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Early Stopping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Patience=15, monitor </a:t>
                      </a:r>
                      <a:r>
                        <a:rPr lang="en-US" sz="1700" dirty="0" err="1"/>
                        <a:t>val</a:t>
                      </a:r>
                      <a:r>
                        <a:rPr lang="en-US" sz="1700" dirty="0"/>
                        <a:t> F1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97941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Device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Apple M4 Pro (MPS) ~6s/epoch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324416"/>
                  </a:ext>
                </a:extLst>
              </a:tr>
              <a:tr h="35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Best Model Saved By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Validation F1 Score</a:t>
                      </a:r>
                    </a:p>
                  </a:txBody>
                  <a:tcPr marL="87842" marR="87842" marT="43921" marB="439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0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20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D308-6F1F-8EA8-8F9B-344E08AF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44BC-A1EB-40D9-7FB0-8AE59F96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 dirty="0">
                <a:solidFill>
                  <a:srgbClr val="262626"/>
                </a:solidFill>
              </a:rPr>
              <a:t>Training process &amp; configuration</a:t>
            </a:r>
            <a:endParaRPr lang="en-US" sz="2000" b="1" dirty="0">
              <a:solidFill>
                <a:srgbClr val="262626"/>
              </a:solidFill>
            </a:endParaRPr>
          </a:p>
        </p:txBody>
      </p:sp>
      <p:sp>
        <p:nvSpPr>
          <p:cNvPr id="2061" name="Rectangle 4">
            <a:extLst>
              <a:ext uri="{FF2B5EF4-FFF2-40B4-BE49-F238E27FC236}">
                <a16:creationId xmlns:a16="http://schemas.microsoft.com/office/drawing/2014/main" id="{ABECE613-B5D5-E935-F5CB-5A4F696A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536102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CN" altLang="en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B7A11F-ADDD-8908-1AE0-C8FF3CA5F2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4335" y="477117"/>
            <a:ext cx="7467107" cy="570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62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2515-26A7-D7A0-7038-F685D3C1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BBA5-419F-352B-C3B3-5AB335AA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1"/>
            <a:ext cx="7729728" cy="1188720"/>
          </a:xfrm>
        </p:spPr>
        <p:txBody>
          <a:bodyPr/>
          <a:lstStyle/>
          <a:p>
            <a:r>
              <a:rPr lang="en-US"/>
              <a:t>Experimental Results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7D4A41-5C52-5A6F-EC96-52BF915E1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382732"/>
              </p:ext>
            </p:extLst>
          </p:nvPr>
        </p:nvGraphicFramePr>
        <p:xfrm>
          <a:off x="118130" y="1646003"/>
          <a:ext cx="6801654" cy="2926080"/>
        </p:xfrm>
        <a:graphic>
          <a:graphicData uri="http://schemas.openxmlformats.org/drawingml/2006/table">
            <a:tbl>
              <a:tblPr/>
              <a:tblGrid>
                <a:gridCol w="3400827">
                  <a:extLst>
                    <a:ext uri="{9D8B030D-6E8A-4147-A177-3AD203B41FA5}">
                      <a16:colId xmlns:a16="http://schemas.microsoft.com/office/drawing/2014/main" val="2717439471"/>
                    </a:ext>
                  </a:extLst>
                </a:gridCol>
                <a:gridCol w="3400827">
                  <a:extLst>
                    <a:ext uri="{9D8B030D-6E8A-4147-A177-3AD203B41FA5}">
                      <a16:colId xmlns:a16="http://schemas.microsoft.com/office/drawing/2014/main" val="27977914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066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Test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b="1"/>
                        <a:t>89.47%</a:t>
                      </a:r>
                      <a:endParaRPr lang="en-C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9757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Precision (Yes Tumor)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b="1"/>
                        <a:t>91.30%</a:t>
                      </a:r>
                      <a:endParaRPr lang="en-C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805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Recall (Yes Tumor)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b="1"/>
                        <a:t>91.30%</a:t>
                      </a:r>
                      <a:endParaRPr lang="en-C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144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F1-Score (Yes Tumor)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b="1"/>
                        <a:t>91.30%</a:t>
                      </a:r>
                      <a:endParaRPr lang="en-C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691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Precision (No Tumor)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86.67%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2783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Recall (No Tumor)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/>
                        <a:t>86.67%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719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Weighted 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sz="1800" b="1" dirty="0"/>
                        <a:t>0.90</a:t>
                      </a:r>
                      <a:endParaRPr lang="en-C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48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4D73CC-DE5C-0ED7-401C-2DED4EAF5F3B}"/>
              </a:ext>
            </a:extLst>
          </p:cNvPr>
          <p:cNvSpPr txBox="1"/>
          <p:nvPr/>
        </p:nvSpPr>
        <p:spPr>
          <a:xfrm>
            <a:off x="118130" y="4654174"/>
            <a:ext cx="56888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Confusion Matrix:</a:t>
            </a:r>
          </a:p>
          <a:p>
            <a:r>
              <a:rPr lang="en-US" dirty="0"/>
              <a:t>True Negative (TN) = 14 — correctly identified no tumor</a:t>
            </a:r>
          </a:p>
          <a:p>
            <a:r>
              <a:rPr lang="en-US" dirty="0"/>
              <a:t>False Positive (FP) = 1 — said tumor when there was none</a:t>
            </a:r>
          </a:p>
          <a:p>
            <a:r>
              <a:rPr lang="en-US" dirty="0"/>
              <a:t>False Negative (FN) = 3 — missed a real tumor</a:t>
            </a:r>
          </a:p>
          <a:p>
            <a:r>
              <a:rPr lang="en-US" dirty="0"/>
              <a:t>True Positive (TP) = 20 — correctly detected tumor</a:t>
            </a:r>
          </a:p>
          <a:p>
            <a:endParaRPr lang="en-CN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5D74845-0FF3-86A2-A1C6-16A535C1C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600" y="1437108"/>
            <a:ext cx="3614679" cy="3217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8EDF1-76B1-A107-1807-3F3F91FFA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2" y="4572082"/>
            <a:ext cx="3519919" cy="228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6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ACFC-80CB-DEB8-55B8-DBF27C0A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DEC0-F719-9A19-FDF1-EACCC052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2691"/>
            <a:ext cx="7729728" cy="1188720"/>
          </a:xfrm>
        </p:spPr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09B2D-7EE2-EC3F-8513-A91DF05A0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22445"/>
            <a:ext cx="7729728" cy="5235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Conclusion:</a:t>
            </a:r>
          </a:p>
          <a:p>
            <a:r>
              <a:rPr lang="en-US" sz="1600" dirty="0"/>
              <a:t>Successfully built a custom CNN from scratch achieving 89.47% test accuracy</a:t>
            </a:r>
          </a:p>
          <a:p>
            <a:r>
              <a:rPr lang="en-US" sz="1600" dirty="0"/>
              <a:t>Residual blocks and Global Average Pooling were critical to performance</a:t>
            </a:r>
          </a:p>
          <a:p>
            <a:r>
              <a:rPr lang="en-US" sz="1600" dirty="0"/>
              <a:t>Offline data augmentation expanded dataset from 253 to 2,364 images</a:t>
            </a:r>
          </a:p>
          <a:p>
            <a:r>
              <a:rPr lang="en-US" sz="1600" dirty="0"/>
              <a:t>Model demonstrates clinically useful recall of 91.30% for tumor detection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Future Work:</a:t>
            </a:r>
          </a:p>
          <a:p>
            <a:r>
              <a:rPr lang="en-US" sz="1600" dirty="0"/>
              <a:t>Apply transfer learning (ResNet-50, </a:t>
            </a:r>
            <a:r>
              <a:rPr lang="en-US" sz="1600" dirty="0" err="1"/>
              <a:t>EfficientNet</a:t>
            </a:r>
            <a:r>
              <a:rPr lang="en-US" sz="1600" dirty="0"/>
              <a:t>) with ImageNet pretrained weights</a:t>
            </a:r>
          </a:p>
          <a:p>
            <a:r>
              <a:rPr lang="en-US" sz="1600" dirty="0"/>
              <a:t>Collect more MRI data to reduce dependency on augmentation</a:t>
            </a:r>
          </a:p>
          <a:p>
            <a:r>
              <a:rPr lang="en-US" sz="1600" dirty="0"/>
              <a:t>Implement Grad-CAM visualization to show which regions the model focuses on</a:t>
            </a:r>
          </a:p>
          <a:p>
            <a:r>
              <a:rPr lang="en-US" sz="1600" dirty="0"/>
              <a:t>Extend to multi-class classification (glioma, meningioma, pituitary)</a:t>
            </a:r>
          </a:p>
          <a:p>
            <a:r>
              <a:rPr lang="en-US" sz="1600" dirty="0"/>
              <a:t>Deploy as a web application for real-time MRI screening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0289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AE3E-6707-0B65-BA84-A631F24C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765" y="2728178"/>
            <a:ext cx="7729728" cy="1188720"/>
          </a:xfrm>
        </p:spPr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623062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2730</TotalTime>
  <Words>809</Words>
  <Application>Microsoft Macintosh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Parcel</vt:lpstr>
      <vt:lpstr>Brain Tumor Classification Using Convolutional Neural Networks</vt:lpstr>
      <vt:lpstr>PowerPoint Presentation</vt:lpstr>
      <vt:lpstr>Problem Statement &amp; Motivation</vt:lpstr>
      <vt:lpstr>Dataset Description</vt:lpstr>
      <vt:lpstr>Data Preprocessing &amp; Augmentation</vt:lpstr>
      <vt:lpstr>Model Architecture</vt:lpstr>
      <vt:lpstr>Training Configuration</vt:lpstr>
      <vt:lpstr>Training process &amp; configuration</vt:lpstr>
      <vt:lpstr>Experimental Results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Learner  ct103</dc:creator>
  <cp:lastModifiedBy>Usama Virk</cp:lastModifiedBy>
  <cp:revision>54</cp:revision>
  <dcterms:created xsi:type="dcterms:W3CDTF">2025-10-29T07:28:51Z</dcterms:created>
  <dcterms:modified xsi:type="dcterms:W3CDTF">2026-03-26T06:56:09Z</dcterms:modified>
</cp:coreProperties>
</file>